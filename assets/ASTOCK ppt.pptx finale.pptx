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 Bold" charset="1" panose="020B0704020202020204"/>
      <p:regular r:id="rId20"/>
    </p:embeddedFont>
    <p:embeddedFont>
      <p:font typeface="Noto Sans" charset="1" panose="020B0502040504020204"/>
      <p:regular r:id="rId21"/>
    </p:embeddedFont>
    <p:embeddedFont>
      <p:font typeface="Arimo" charset="1" panose="020B0604020202020204"/>
      <p:regular r:id="rId23"/>
    </p:embeddedFont>
    <p:embeddedFont>
      <p:font typeface="Noto Sans Bold" charset="1" panose="020B0802040504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jpeg" Type="http://schemas.openxmlformats.org/officeDocument/2006/relationships/image"/><Relationship Id="rId7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1.jpe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20.pn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29.jpe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https://cdn.gamma.app/rom7fnougcrbd3o/87a87a5c60564bad8936c84648924f84/original/IMG-20260829-WA0029.jpg" TargetMode="External" Type="http://schemas.openxmlformats.org/officeDocument/2006/relationships/hyperlink"/><Relationship Id="rId7" Target="https://cdn.gamma.app/rom7fnougcrbd3o/31d9585557b14378a5ae6e412086f32a/original/IMG-20260829-WA0031.jpg" TargetMode="External" Type="http://schemas.openxmlformats.org/officeDocument/2006/relationships/hyperlink"/><Relationship Id="rId8" Target="https://cdn.gamma.app/rom7fnougcrbd3o/0fe265209c994144a79238bed48741a5/original/IMG-20260829-WA0055.jpg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0438" y="1857632"/>
            <a:ext cx="6579603" cy="6579775"/>
            <a:chOff x="0" y="0"/>
            <a:chExt cx="8772804" cy="877303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72779" cy="8773033"/>
            </a:xfrm>
            <a:custGeom>
              <a:avLst/>
              <a:gdLst/>
              <a:ahLst/>
              <a:cxnLst/>
              <a:rect r="r" b="b" t="t" l="l"/>
              <a:pathLst>
                <a:path h="8773033" w="8772779">
                  <a:moveTo>
                    <a:pt x="0" y="0"/>
                  </a:moveTo>
                  <a:lnTo>
                    <a:pt x="8772779" y="0"/>
                  </a:lnTo>
                  <a:lnTo>
                    <a:pt x="8772779" y="8773033"/>
                  </a:lnTo>
                  <a:lnTo>
                    <a:pt x="0" y="8773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842436" y="3476629"/>
            <a:ext cx="3753768" cy="112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6"/>
              </a:lnSpc>
            </a:pPr>
            <a:r>
              <a:rPr lang="en-US" sz="7000" b="tru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ASTOCK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5438" y="4738726"/>
            <a:ext cx="10367762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AI-Powered Stock Intelligence Tool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991" y="5588098"/>
            <a:ext cx="2089194" cy="431044"/>
            <a:chOff x="0" y="0"/>
            <a:chExt cx="2785593" cy="5747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85491" cy="574549"/>
            </a:xfrm>
            <a:custGeom>
              <a:avLst/>
              <a:gdLst/>
              <a:ahLst/>
              <a:cxnLst/>
              <a:rect r="r" b="b" t="t" l="l"/>
              <a:pathLst>
                <a:path h="574549" w="278549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740152" y="0"/>
                  </a:lnTo>
                  <a:cubicBezTo>
                    <a:pt x="2765171" y="0"/>
                    <a:pt x="2785491" y="20320"/>
                    <a:pt x="2785491" y="45339"/>
                  </a:cubicBezTo>
                  <a:lnTo>
                    <a:pt x="2785491" y="529209"/>
                  </a:lnTo>
                  <a:cubicBezTo>
                    <a:pt x="2785491" y="554228"/>
                    <a:pt x="2765171" y="574548"/>
                    <a:pt x="2740152" y="574548"/>
                  </a:cubicBezTo>
                  <a:lnTo>
                    <a:pt x="45339" y="574548"/>
                  </a:lnTo>
                  <a:cubicBezTo>
                    <a:pt x="20320" y="574675"/>
                    <a:pt x="0" y="554355"/>
                    <a:pt x="0" y="529336"/>
                  </a:cubicBezTo>
                  <a:close/>
                </a:path>
              </a:pathLst>
            </a:custGeom>
            <a:solidFill>
              <a:srgbClr val="00184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63231" y="5692197"/>
            <a:ext cx="2663809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ML HACKATHON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1274587" y="6261718"/>
            <a:ext cx="12997298" cy="40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147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Dipankar Roy</a:t>
            </a:r>
            <a:r>
              <a:rPr lang="en-US" sz="214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• </a:t>
            </a:r>
            <a:r>
              <a:rPr lang="en-US" sz="2147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Shubham Gupta</a:t>
            </a:r>
            <a:r>
              <a:rPr lang="en-US" sz="214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• </a:t>
            </a:r>
            <a:r>
              <a:rPr lang="en-US" sz="2147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Firdos Khatoon</a:t>
            </a:r>
            <a:r>
              <a:rPr lang="en-US" sz="214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• </a:t>
            </a:r>
            <a:r>
              <a:rPr lang="en-US" sz="2147">
                <a:solidFill>
                  <a:srgbClr val="00D9FF"/>
                </a:solidFill>
                <a:latin typeface="Noto Sans"/>
                <a:ea typeface="Noto Sans"/>
                <a:cs typeface="Noto Sans"/>
                <a:sym typeface="Noto Sans"/>
              </a:rPr>
              <a:t>Ansuman Shaw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8039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78269" y="2469707"/>
            <a:ext cx="3393638" cy="107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5"/>
              </a:lnSpc>
            </a:pPr>
            <a:r>
              <a:rPr lang="en-US" sz="6678" b="tru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78269" y="4225669"/>
            <a:ext cx="9523571" cy="44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Stock market data is complex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78269" y="5553265"/>
            <a:ext cx="9459058" cy="44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Beginners struggle to analyze stocks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78269" y="6689173"/>
            <a:ext cx="9459058" cy="44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Risk is difficult to understand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42979"/>
            <a:ext cx="16315868" cy="92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Market Gap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1672942"/>
            <a:ext cx="10366877" cy="7195204"/>
            <a:chOff x="0" y="0"/>
            <a:chExt cx="13822502" cy="9593605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3822553" cy="9593559"/>
            </a:xfrm>
            <a:custGeom>
              <a:avLst/>
              <a:gdLst/>
              <a:ahLst/>
              <a:cxnLst/>
              <a:rect r="r" b="b" t="t" l="l"/>
              <a:pathLst>
                <a:path h="9593559" w="13822553">
                  <a:moveTo>
                    <a:pt x="0" y="0"/>
                  </a:moveTo>
                  <a:lnTo>
                    <a:pt x="13822553" y="0"/>
                  </a:lnTo>
                  <a:lnTo>
                    <a:pt x="13822553" y="9593559"/>
                  </a:lnTo>
                  <a:lnTo>
                    <a:pt x="0" y="959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194" t="0" r="-11193" b="0"/>
              </a:stretch>
            </a:blip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2050649" y="2006294"/>
            <a:ext cx="6186678" cy="2614121"/>
          </a:xfrm>
          <a:custGeom>
            <a:avLst/>
            <a:gdLst/>
            <a:ahLst/>
            <a:cxnLst/>
            <a:rect r="r" b="b" t="t" l="l"/>
            <a:pathLst>
              <a:path h="2614121" w="6186678">
                <a:moveTo>
                  <a:pt x="0" y="0"/>
                </a:moveTo>
                <a:lnTo>
                  <a:pt x="6186678" y="0"/>
                </a:lnTo>
                <a:lnTo>
                  <a:pt x="6186678" y="2614122"/>
                </a:lnTo>
                <a:lnTo>
                  <a:pt x="0" y="261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5" r="0" b="-19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20555" y="2683402"/>
            <a:ext cx="4480436" cy="90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Most tools only show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20555" y="3783549"/>
            <a:ext cx="4480436" cy="51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No actionable insights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050649" y="4895355"/>
            <a:ext cx="6186678" cy="2614121"/>
          </a:xfrm>
          <a:custGeom>
            <a:avLst/>
            <a:gdLst/>
            <a:ahLst/>
            <a:cxnLst/>
            <a:rect r="r" b="b" t="t" l="l"/>
            <a:pathLst>
              <a:path h="2614121" w="6186678">
                <a:moveTo>
                  <a:pt x="0" y="0"/>
                </a:moveTo>
                <a:lnTo>
                  <a:pt x="6186678" y="0"/>
                </a:lnTo>
                <a:lnTo>
                  <a:pt x="6186678" y="2614121"/>
                </a:lnTo>
                <a:lnTo>
                  <a:pt x="0" y="26141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5" r="0" b="-19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520555" y="5184181"/>
            <a:ext cx="4480436" cy="90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Few tools provide predictions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20555" y="6284328"/>
            <a:ext cx="4480436" cy="51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AI forecasting is rare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2050649" y="7396134"/>
            <a:ext cx="6186678" cy="2101584"/>
          </a:xfrm>
          <a:custGeom>
            <a:avLst/>
            <a:gdLst/>
            <a:ahLst/>
            <a:cxnLst/>
            <a:rect r="r" b="b" t="t" l="l"/>
            <a:pathLst>
              <a:path h="2101584" w="6186678">
                <a:moveTo>
                  <a:pt x="0" y="0"/>
                </a:moveTo>
                <a:lnTo>
                  <a:pt x="6186678" y="0"/>
                </a:lnTo>
                <a:lnTo>
                  <a:pt x="6186678" y="2101584"/>
                </a:lnTo>
                <a:lnTo>
                  <a:pt x="0" y="21015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15" r="0" b="-21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520555" y="7684961"/>
            <a:ext cx="4480436" cy="46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Not beginner-friendly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20555" y="8348691"/>
            <a:ext cx="4480436" cy="51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Too technical for new investors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719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3143121"/>
            <a:ext cx="2992517" cy="95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3"/>
              </a:lnSpc>
            </a:pPr>
            <a:r>
              <a:rPr lang="en-US" sz="5892" b="tru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Solution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4830118"/>
            <a:ext cx="5249418" cy="2088947"/>
            <a:chOff x="0" y="0"/>
            <a:chExt cx="6999224" cy="27852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99224" cy="2785237"/>
            </a:xfrm>
            <a:custGeom>
              <a:avLst/>
              <a:gdLst/>
              <a:ahLst/>
              <a:cxnLst/>
              <a:rect r="r" b="b" t="t" l="l"/>
              <a:pathLst>
                <a:path h="2785237" w="699922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42455" y="0"/>
                  </a:lnTo>
                  <a:cubicBezTo>
                    <a:pt x="6973824" y="0"/>
                    <a:pt x="6999224" y="25400"/>
                    <a:pt x="6999224" y="56769"/>
                  </a:cubicBezTo>
                  <a:lnTo>
                    <a:pt x="6999224" y="2728468"/>
                  </a:lnTo>
                  <a:cubicBezTo>
                    <a:pt x="6999224" y="2759837"/>
                    <a:pt x="6973824" y="2785237"/>
                    <a:pt x="6942455" y="2785237"/>
                  </a:cubicBezTo>
                  <a:lnTo>
                    <a:pt x="56769" y="2785237"/>
                  </a:lnTo>
                  <a:cubicBezTo>
                    <a:pt x="25400" y="2785237"/>
                    <a:pt x="0" y="2759837"/>
                    <a:pt x="0" y="2728468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76721" y="5085283"/>
            <a:ext cx="468195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AI &amp; Machine Learning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721" y="5651163"/>
            <a:ext cx="4681957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Astock uses advanced ML models to analyze market patterns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6139" y="4830118"/>
            <a:ext cx="5249418" cy="2088947"/>
            <a:chOff x="0" y="0"/>
            <a:chExt cx="6999224" cy="27852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9224" cy="2785237"/>
            </a:xfrm>
            <a:custGeom>
              <a:avLst/>
              <a:gdLst/>
              <a:ahLst/>
              <a:cxnLst/>
              <a:rect r="r" b="b" t="t" l="l"/>
              <a:pathLst>
                <a:path h="2785237" w="699922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42455" y="0"/>
                  </a:lnTo>
                  <a:cubicBezTo>
                    <a:pt x="6973824" y="0"/>
                    <a:pt x="6999224" y="25400"/>
                    <a:pt x="6999224" y="56769"/>
                  </a:cubicBezTo>
                  <a:lnTo>
                    <a:pt x="6999224" y="2728468"/>
                  </a:lnTo>
                  <a:cubicBezTo>
                    <a:pt x="6999224" y="2759837"/>
                    <a:pt x="6973824" y="2785237"/>
                    <a:pt x="6942455" y="2785237"/>
                  </a:cubicBezTo>
                  <a:lnTo>
                    <a:pt x="56769" y="2785237"/>
                  </a:lnTo>
                  <a:cubicBezTo>
                    <a:pt x="25400" y="2785237"/>
                    <a:pt x="0" y="2759837"/>
                    <a:pt x="0" y="2728468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09870" y="5085283"/>
            <a:ext cx="468195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Predict Return &amp; Risk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09870" y="5651163"/>
            <a:ext cx="4681957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Get a clear return prediction and risk score instantly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59288" y="4830118"/>
            <a:ext cx="5249418" cy="2088947"/>
            <a:chOff x="0" y="0"/>
            <a:chExt cx="6999224" cy="27852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99224" cy="2785237"/>
            </a:xfrm>
            <a:custGeom>
              <a:avLst/>
              <a:gdLst/>
              <a:ahLst/>
              <a:cxnLst/>
              <a:rect r="r" b="b" t="t" l="l"/>
              <a:pathLst>
                <a:path h="2785237" w="699922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42455" y="0"/>
                  </a:lnTo>
                  <a:cubicBezTo>
                    <a:pt x="6973824" y="0"/>
                    <a:pt x="6999224" y="25400"/>
                    <a:pt x="6999224" y="56769"/>
                  </a:cubicBezTo>
                  <a:lnTo>
                    <a:pt x="6999224" y="2728468"/>
                  </a:lnTo>
                  <a:cubicBezTo>
                    <a:pt x="6999224" y="2759837"/>
                    <a:pt x="6973824" y="2785237"/>
                    <a:pt x="6942455" y="2785237"/>
                  </a:cubicBezTo>
                  <a:lnTo>
                    <a:pt x="56769" y="2785237"/>
                  </a:lnTo>
                  <a:cubicBezTo>
                    <a:pt x="25400" y="2785237"/>
                    <a:pt x="0" y="2759837"/>
                    <a:pt x="0" y="2728468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43019" y="5085283"/>
            <a:ext cx="468195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One Simple Dashboard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43019" y="5651163"/>
            <a:ext cx="4681957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All results displayed in a clean, easy-to-read interface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1253261"/>
            <a:ext cx="2940368" cy="89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Features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991" y="2622614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667" t="0" r="-1166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15077" y="2691451"/>
            <a:ext cx="8530580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Return Prediction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5077" y="3257331"/>
            <a:ext cx="8530580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AI-powered forecast of expected stock returns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991" y="4354992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831" r="0" b="-1083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15077" y="4423820"/>
            <a:ext cx="8530580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Risk Score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5077" y="4989700"/>
            <a:ext cx="8530580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Clear risk rating so you know what you're investing in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991" y="6087361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668" t="0" r="-1668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15077" y="6156198"/>
            <a:ext cx="8530580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Live Market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15077" y="6722069"/>
            <a:ext cx="8530580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Real-time stock prices and market updates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991" y="7819739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832" r="0" b="-83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915077" y="7888567"/>
            <a:ext cx="8530580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Smart Stock Search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15077" y="8454447"/>
            <a:ext cx="8530580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Find and compare stocks quickly and easily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1582283"/>
            <a:ext cx="4467582" cy="89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How It Works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0089" y="2419855"/>
            <a:ext cx="10363000" cy="6767541"/>
            <a:chOff x="0" y="0"/>
            <a:chExt cx="13817333" cy="902338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3817346" cy="9023355"/>
            </a:xfrm>
            <a:custGeom>
              <a:avLst/>
              <a:gdLst/>
              <a:ahLst/>
              <a:cxnLst/>
              <a:rect r="r" b="b" t="t" l="l"/>
              <a:pathLst>
                <a:path h="9023355" w="13817346">
                  <a:moveTo>
                    <a:pt x="0" y="0"/>
                  </a:moveTo>
                  <a:lnTo>
                    <a:pt x="13817346" y="0"/>
                  </a:lnTo>
                  <a:lnTo>
                    <a:pt x="13817346" y="9023355"/>
                  </a:lnTo>
                  <a:lnTo>
                    <a:pt x="0" y="9023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777" t="0" r="-16777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77517" y="4975622"/>
            <a:ext cx="2415931" cy="34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876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Collect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63708" y="3815953"/>
            <a:ext cx="2415931" cy="34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876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Process with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16216" y="6199727"/>
            <a:ext cx="2495455" cy="34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876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Generate Prediction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58636" y="7380875"/>
            <a:ext cx="2415931" cy="34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876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Display Dashboard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11670" y="2481874"/>
            <a:ext cx="7890169" cy="4385756"/>
            <a:chOff x="0" y="0"/>
            <a:chExt cx="7906684" cy="439493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906722" cy="4394948"/>
            </a:xfrm>
            <a:custGeom>
              <a:avLst/>
              <a:gdLst/>
              <a:ahLst/>
              <a:cxnLst/>
              <a:rect r="r" b="b" t="t" l="l"/>
              <a:pathLst>
                <a:path h="4394948" w="7906722">
                  <a:moveTo>
                    <a:pt x="0" y="0"/>
                  </a:moveTo>
                  <a:lnTo>
                    <a:pt x="7906722" y="0"/>
                  </a:lnTo>
                  <a:lnTo>
                    <a:pt x="7906722" y="4394948"/>
                  </a:lnTo>
                  <a:lnTo>
                    <a:pt x="0" y="439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1" r="0" b="-19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2728265"/>
            <a:ext cx="6036469" cy="89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Technology Stack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4239558"/>
            <a:ext cx="16315868" cy="3269923"/>
            <a:chOff x="0" y="0"/>
            <a:chExt cx="21754490" cy="43598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54464" cy="4359910"/>
            </a:xfrm>
            <a:custGeom>
              <a:avLst/>
              <a:gdLst/>
              <a:ahLst/>
              <a:cxnLst/>
              <a:rect r="r" b="b" t="t" l="l"/>
              <a:pathLst>
                <a:path h="4359910" w="2175446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97696" y="0"/>
                  </a:lnTo>
                  <a:cubicBezTo>
                    <a:pt x="21729064" y="0"/>
                    <a:pt x="21754464" y="25400"/>
                    <a:pt x="21754464" y="56769"/>
                  </a:cubicBezTo>
                  <a:lnTo>
                    <a:pt x="21754464" y="4303141"/>
                  </a:lnTo>
                  <a:cubicBezTo>
                    <a:pt x="21754464" y="4334510"/>
                    <a:pt x="21729064" y="4359910"/>
                    <a:pt x="21697696" y="4359910"/>
                  </a:cubicBezTo>
                  <a:lnTo>
                    <a:pt x="56769" y="4359910"/>
                  </a:lnTo>
                  <a:cubicBezTo>
                    <a:pt x="25400" y="4359910"/>
                    <a:pt x="0" y="4334510"/>
                    <a:pt x="0" y="4303141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2991" y="4239558"/>
            <a:ext cx="8157934" cy="1634966"/>
            <a:chOff x="0" y="0"/>
            <a:chExt cx="10877245" cy="21799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77296" cy="2179955"/>
            </a:xfrm>
            <a:custGeom>
              <a:avLst/>
              <a:gdLst/>
              <a:ahLst/>
              <a:cxnLst/>
              <a:rect r="r" b="b" t="t" l="l"/>
              <a:pathLst>
                <a:path h="2179955" w="10877296">
                  <a:moveTo>
                    <a:pt x="47244" y="0"/>
                  </a:moveTo>
                  <a:lnTo>
                    <a:pt x="10877296" y="0"/>
                  </a:lnTo>
                  <a:lnTo>
                    <a:pt x="10877296" y="2179955"/>
                  </a:lnTo>
                  <a:lnTo>
                    <a:pt x="0" y="2179955"/>
                  </a:lnTo>
                  <a:lnTo>
                    <a:pt x="0" y="47244"/>
                  </a:lnTo>
                  <a:cubicBezTo>
                    <a:pt x="0" y="21209"/>
                    <a:pt x="21209" y="0"/>
                    <a:pt x="47244" y="0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76721" y="4494724"/>
            <a:ext cx="716494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React &amp; Next.js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6721" y="5060594"/>
            <a:ext cx="716494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Modern frontend framework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50925" y="4239558"/>
            <a:ext cx="8157934" cy="1634966"/>
            <a:chOff x="0" y="0"/>
            <a:chExt cx="10877245" cy="21799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77169" cy="2179955"/>
            </a:xfrm>
            <a:custGeom>
              <a:avLst/>
              <a:gdLst/>
              <a:ahLst/>
              <a:cxnLst/>
              <a:rect r="r" b="b" t="t" l="l"/>
              <a:pathLst>
                <a:path h="2179955" w="10877169">
                  <a:moveTo>
                    <a:pt x="0" y="0"/>
                  </a:moveTo>
                  <a:lnTo>
                    <a:pt x="10829925" y="0"/>
                  </a:lnTo>
                  <a:cubicBezTo>
                    <a:pt x="10856087" y="0"/>
                    <a:pt x="10877169" y="21209"/>
                    <a:pt x="10877169" y="47244"/>
                  </a:cubicBezTo>
                  <a:lnTo>
                    <a:pt x="10877169" y="2179955"/>
                  </a:lnTo>
                  <a:lnTo>
                    <a:pt x="0" y="2179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50925" y="4239558"/>
            <a:ext cx="38129" cy="1634966"/>
            <a:chOff x="0" y="0"/>
            <a:chExt cx="50838" cy="21799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" cy="2179955"/>
            </a:xfrm>
            <a:custGeom>
              <a:avLst/>
              <a:gdLst/>
              <a:ahLst/>
              <a:cxnLst/>
              <a:rect r="r" b="b" t="t" l="l"/>
              <a:pathLst>
                <a:path h="2179955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154555"/>
                  </a:lnTo>
                  <a:cubicBezTo>
                    <a:pt x="50800" y="2168652"/>
                    <a:pt x="39370" y="2179955"/>
                    <a:pt x="25400" y="2179955"/>
                  </a:cubicBezTo>
                  <a:cubicBezTo>
                    <a:pt x="11430" y="2179955"/>
                    <a:pt x="0" y="2168525"/>
                    <a:pt x="0" y="2154555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60175" y="4494724"/>
            <a:ext cx="716494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Python &amp; FastAPI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60175" y="5060594"/>
            <a:ext cx="716494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Fast and scalable backend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991" y="5874525"/>
            <a:ext cx="8157934" cy="1634966"/>
            <a:chOff x="0" y="0"/>
            <a:chExt cx="10877245" cy="21799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77296" cy="2179955"/>
            </a:xfrm>
            <a:custGeom>
              <a:avLst/>
              <a:gdLst/>
              <a:ahLst/>
              <a:cxnLst/>
              <a:rect r="r" b="b" t="t" l="l"/>
              <a:pathLst>
                <a:path h="2179955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2179955"/>
                  </a:lnTo>
                  <a:lnTo>
                    <a:pt x="47244" y="2179955"/>
                  </a:lnTo>
                  <a:cubicBezTo>
                    <a:pt x="21082" y="2179955"/>
                    <a:pt x="0" y="2158746"/>
                    <a:pt x="0" y="21327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92991" y="5874525"/>
            <a:ext cx="8157934" cy="38129"/>
            <a:chOff x="0" y="0"/>
            <a:chExt cx="10877245" cy="50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77169" cy="50800"/>
            </a:xfrm>
            <a:custGeom>
              <a:avLst/>
              <a:gdLst/>
              <a:ahLst/>
              <a:cxnLst/>
              <a:rect r="r" b="b" t="t" l="l"/>
              <a:pathLst>
                <a:path h="50800" w="1087716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51769" y="0"/>
                  </a:lnTo>
                  <a:cubicBezTo>
                    <a:pt x="10865865" y="0"/>
                    <a:pt x="10877169" y="11430"/>
                    <a:pt x="10877169" y="25400"/>
                  </a:cubicBezTo>
                  <a:cubicBezTo>
                    <a:pt x="10877169" y="39497"/>
                    <a:pt x="10865738" y="50800"/>
                    <a:pt x="10851769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76721" y="6129680"/>
            <a:ext cx="716494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Machine Learning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721" y="6695561"/>
            <a:ext cx="716494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Predictive AI models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50925" y="5874525"/>
            <a:ext cx="8157934" cy="1634966"/>
            <a:chOff x="0" y="0"/>
            <a:chExt cx="10877245" cy="21799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77296" cy="2179955"/>
            </a:xfrm>
            <a:custGeom>
              <a:avLst/>
              <a:gdLst/>
              <a:ahLst/>
              <a:cxnLst/>
              <a:rect r="r" b="b" t="t" l="l"/>
              <a:pathLst>
                <a:path h="2179955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2132711"/>
                  </a:lnTo>
                  <a:cubicBezTo>
                    <a:pt x="10877296" y="2158873"/>
                    <a:pt x="10856087" y="2179955"/>
                    <a:pt x="10830052" y="2179955"/>
                  </a:cubicBezTo>
                  <a:lnTo>
                    <a:pt x="0" y="2179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50925" y="5874525"/>
            <a:ext cx="38129" cy="1634966"/>
            <a:chOff x="0" y="0"/>
            <a:chExt cx="50838" cy="21799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" cy="2179955"/>
            </a:xfrm>
            <a:custGeom>
              <a:avLst/>
              <a:gdLst/>
              <a:ahLst/>
              <a:cxnLst/>
              <a:rect r="r" b="b" t="t" l="l"/>
              <a:pathLst>
                <a:path h="2179955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154555"/>
                  </a:lnTo>
                  <a:cubicBezTo>
                    <a:pt x="50800" y="2168652"/>
                    <a:pt x="39370" y="2179955"/>
                    <a:pt x="25400" y="2179955"/>
                  </a:cubicBezTo>
                  <a:cubicBezTo>
                    <a:pt x="11430" y="2179955"/>
                    <a:pt x="0" y="2168525"/>
                    <a:pt x="0" y="2154555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50925" y="5874525"/>
            <a:ext cx="8157934" cy="38129"/>
            <a:chOff x="0" y="0"/>
            <a:chExt cx="10877245" cy="508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77169" cy="50800"/>
            </a:xfrm>
            <a:custGeom>
              <a:avLst/>
              <a:gdLst/>
              <a:ahLst/>
              <a:cxnLst/>
              <a:rect r="r" b="b" t="t" l="l"/>
              <a:pathLst>
                <a:path h="50800" w="1087716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51769" y="0"/>
                  </a:lnTo>
                  <a:cubicBezTo>
                    <a:pt x="10865865" y="0"/>
                    <a:pt x="10877169" y="11430"/>
                    <a:pt x="10877169" y="25400"/>
                  </a:cubicBezTo>
                  <a:cubicBezTo>
                    <a:pt x="10877169" y="39497"/>
                    <a:pt x="10865738" y="50800"/>
                    <a:pt x="10851769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860175" y="6129680"/>
            <a:ext cx="716494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Yahoo Finance API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60175" y="6695561"/>
            <a:ext cx="716494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Live market data source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777230" y="4683262"/>
            <a:ext cx="747389" cy="747398"/>
            <a:chOff x="0" y="0"/>
            <a:chExt cx="996518" cy="9965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6569" cy="996569"/>
            </a:xfrm>
            <a:custGeom>
              <a:avLst/>
              <a:gdLst/>
              <a:ahLst/>
              <a:cxnLst/>
              <a:rect r="r" b="b" t="t" l="l"/>
              <a:pathLst>
                <a:path h="996569" w="99656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936752" y="0"/>
                  </a:lnTo>
                  <a:cubicBezTo>
                    <a:pt x="969772" y="0"/>
                    <a:pt x="996569" y="26797"/>
                    <a:pt x="996569" y="59817"/>
                  </a:cubicBezTo>
                  <a:lnTo>
                    <a:pt x="996569" y="936752"/>
                  </a:lnTo>
                  <a:cubicBezTo>
                    <a:pt x="996569" y="969772"/>
                    <a:pt x="969772" y="996569"/>
                    <a:pt x="936752" y="996569"/>
                  </a:cubicBezTo>
                  <a:lnTo>
                    <a:pt x="59817" y="996569"/>
                  </a:lnTo>
                  <a:cubicBezTo>
                    <a:pt x="26797" y="996569"/>
                    <a:pt x="0" y="969772"/>
                    <a:pt x="0" y="936752"/>
                  </a:cubicBezTo>
                  <a:close/>
                </a:path>
              </a:pathLst>
            </a:custGeom>
            <a:solidFill>
              <a:srgbClr val="07070C"/>
            </a:solidFill>
            <a:ln w="38128" cap="sq">
              <a:solidFill>
                <a:srgbClr val="3F3F44"/>
              </a:solidFill>
              <a:prstDash val="solid"/>
              <a:miter/>
            </a:ln>
          </p:spPr>
        </p:sp>
      </p:grpSp>
      <p:sp>
        <p:nvSpPr>
          <p:cNvPr name="Freeform 37" id="37" descr="preencoded.png"/>
          <p:cNvSpPr/>
          <p:nvPr/>
        </p:nvSpPr>
        <p:spPr>
          <a:xfrm flipH="false" flipV="false" rot="0">
            <a:off x="8973531" y="4879572"/>
            <a:ext cx="354625" cy="354635"/>
          </a:xfrm>
          <a:custGeom>
            <a:avLst/>
            <a:gdLst/>
            <a:ahLst/>
            <a:cxnLst/>
            <a:rect r="r" b="b" t="t" l="l"/>
            <a:pathLst>
              <a:path h="354635" w="354625">
                <a:moveTo>
                  <a:pt x="0" y="0"/>
                </a:moveTo>
                <a:lnTo>
                  <a:pt x="354625" y="0"/>
                </a:lnTo>
                <a:lnTo>
                  <a:pt x="354625" y="354635"/>
                </a:lnTo>
                <a:lnTo>
                  <a:pt x="0" y="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4471" r="0" b="-14474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8777230" y="6318228"/>
            <a:ext cx="747389" cy="747398"/>
            <a:chOff x="0" y="0"/>
            <a:chExt cx="996518" cy="9965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6569" cy="996569"/>
            </a:xfrm>
            <a:custGeom>
              <a:avLst/>
              <a:gdLst/>
              <a:ahLst/>
              <a:cxnLst/>
              <a:rect r="r" b="b" t="t" l="l"/>
              <a:pathLst>
                <a:path h="996569" w="99656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936752" y="0"/>
                  </a:lnTo>
                  <a:cubicBezTo>
                    <a:pt x="969772" y="0"/>
                    <a:pt x="996569" y="26797"/>
                    <a:pt x="996569" y="59817"/>
                  </a:cubicBezTo>
                  <a:lnTo>
                    <a:pt x="996569" y="936752"/>
                  </a:lnTo>
                  <a:cubicBezTo>
                    <a:pt x="996569" y="969772"/>
                    <a:pt x="969772" y="996569"/>
                    <a:pt x="936752" y="996569"/>
                  </a:cubicBezTo>
                  <a:lnTo>
                    <a:pt x="59817" y="996569"/>
                  </a:lnTo>
                  <a:cubicBezTo>
                    <a:pt x="26797" y="996569"/>
                    <a:pt x="0" y="969772"/>
                    <a:pt x="0" y="936752"/>
                  </a:cubicBezTo>
                  <a:close/>
                </a:path>
              </a:pathLst>
            </a:custGeom>
            <a:solidFill>
              <a:srgbClr val="07070C"/>
            </a:solidFill>
            <a:ln w="38128" cap="sq">
              <a:solidFill>
                <a:srgbClr val="3F3F44"/>
              </a:solidFill>
              <a:prstDash val="solid"/>
              <a:miter/>
            </a:ln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8973531" y="6514538"/>
            <a:ext cx="354625" cy="354635"/>
          </a:xfrm>
          <a:custGeom>
            <a:avLst/>
            <a:gdLst/>
            <a:ahLst/>
            <a:cxnLst/>
            <a:rect r="r" b="b" t="t" l="l"/>
            <a:pathLst>
              <a:path h="354635" w="354625">
                <a:moveTo>
                  <a:pt x="0" y="0"/>
                </a:moveTo>
                <a:lnTo>
                  <a:pt x="354625" y="0"/>
                </a:lnTo>
                <a:lnTo>
                  <a:pt x="354625" y="354635"/>
                </a:lnTo>
                <a:lnTo>
                  <a:pt x="0" y="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313" r="0" b="-131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85746"/>
            <a:ext cx="4227305" cy="135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29"/>
              </a:lnSpc>
            </a:pPr>
            <a:r>
              <a:rPr lang="en-US" sz="8436" b="tru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Benefits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082650" y="3623377"/>
            <a:ext cx="359093" cy="359102"/>
          </a:xfrm>
          <a:custGeom>
            <a:avLst/>
            <a:gdLst/>
            <a:ahLst/>
            <a:cxnLst/>
            <a:rect r="r" b="b" t="t" l="l"/>
            <a:pathLst>
              <a:path h="359102" w="359093">
                <a:moveTo>
                  <a:pt x="0" y="0"/>
                </a:moveTo>
                <a:lnTo>
                  <a:pt x="359092" y="0"/>
                </a:lnTo>
                <a:lnTo>
                  <a:pt x="359092" y="359102"/>
                </a:lnTo>
                <a:lnTo>
                  <a:pt x="0" y="359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896" t="0" r="-789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0907" y="3587496"/>
            <a:ext cx="4552817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Saves time analyzing stocks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82650" y="4752823"/>
            <a:ext cx="359093" cy="359102"/>
          </a:xfrm>
          <a:custGeom>
            <a:avLst/>
            <a:gdLst/>
            <a:ahLst/>
            <a:cxnLst/>
            <a:rect r="r" b="b" t="t" l="l"/>
            <a:pathLst>
              <a:path h="359102" w="359093">
                <a:moveTo>
                  <a:pt x="0" y="0"/>
                </a:moveTo>
                <a:lnTo>
                  <a:pt x="359092" y="0"/>
                </a:lnTo>
                <a:lnTo>
                  <a:pt x="359092" y="359102"/>
                </a:lnTo>
                <a:lnTo>
                  <a:pt x="0" y="359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896" t="0" r="-789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70907" y="4716942"/>
            <a:ext cx="4552817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Easy to use for beginners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82650" y="5882269"/>
            <a:ext cx="359093" cy="359102"/>
          </a:xfrm>
          <a:custGeom>
            <a:avLst/>
            <a:gdLst/>
            <a:ahLst/>
            <a:cxnLst/>
            <a:rect r="r" b="b" t="t" l="l"/>
            <a:pathLst>
              <a:path h="359102" w="359093">
                <a:moveTo>
                  <a:pt x="0" y="0"/>
                </a:moveTo>
                <a:lnTo>
                  <a:pt x="359092" y="0"/>
                </a:lnTo>
                <a:lnTo>
                  <a:pt x="359092" y="359102"/>
                </a:lnTo>
                <a:lnTo>
                  <a:pt x="0" y="359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896" t="0" r="-789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0907" y="5846388"/>
            <a:ext cx="4552817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Better investment decisions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082650" y="7011714"/>
            <a:ext cx="359093" cy="359102"/>
          </a:xfrm>
          <a:custGeom>
            <a:avLst/>
            <a:gdLst/>
            <a:ahLst/>
            <a:cxnLst/>
            <a:rect r="r" b="b" t="t" l="l"/>
            <a:pathLst>
              <a:path h="359102" w="359093">
                <a:moveTo>
                  <a:pt x="0" y="0"/>
                </a:moveTo>
                <a:lnTo>
                  <a:pt x="359092" y="0"/>
                </a:lnTo>
                <a:lnTo>
                  <a:pt x="359092" y="359102"/>
                </a:lnTo>
                <a:lnTo>
                  <a:pt x="0" y="359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896" t="0" r="-7896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70907" y="6975834"/>
            <a:ext cx="4552817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Reduces financial risk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709505" y="1028700"/>
            <a:ext cx="9549795" cy="8728412"/>
            <a:chOff x="0" y="0"/>
            <a:chExt cx="10307600" cy="9421038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307664" cy="9420987"/>
            </a:xfrm>
            <a:custGeom>
              <a:avLst/>
              <a:gdLst/>
              <a:ahLst/>
              <a:cxnLst/>
              <a:rect r="r" b="b" t="t" l="l"/>
              <a:pathLst>
                <a:path h="9420987" w="10307664">
                  <a:moveTo>
                    <a:pt x="0" y="0"/>
                  </a:moveTo>
                  <a:lnTo>
                    <a:pt x="10307664" y="0"/>
                  </a:lnTo>
                  <a:lnTo>
                    <a:pt x="10307664" y="9420987"/>
                  </a:lnTo>
                  <a:lnTo>
                    <a:pt x="0" y="9420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920" t="0" r="-1919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1372267"/>
            <a:ext cx="4507230" cy="89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Future Scope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991" y="2890561"/>
            <a:ext cx="283731" cy="283740"/>
          </a:xfrm>
          <a:custGeom>
            <a:avLst/>
            <a:gdLst/>
            <a:ahLst/>
            <a:cxnLst/>
            <a:rect r="r" b="b" t="t" l="l"/>
            <a:pathLst>
              <a:path h="283740" w="283731">
                <a:moveTo>
                  <a:pt x="0" y="0"/>
                </a:moveTo>
                <a:lnTo>
                  <a:pt x="283730" y="0"/>
                </a:lnTo>
                <a:lnTo>
                  <a:pt x="283730" y="283741"/>
                </a:lnTo>
                <a:lnTo>
                  <a:pt x="0" y="2837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665" r="0" b="-1665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92991" y="3185770"/>
            <a:ext cx="9452677" cy="38129"/>
            <a:chOff x="0" y="0"/>
            <a:chExt cx="12603569" cy="508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03607" cy="50800"/>
            </a:xfrm>
            <a:custGeom>
              <a:avLst/>
              <a:gdLst/>
              <a:ahLst/>
              <a:cxnLst/>
              <a:rect r="r" b="b" t="t" l="l"/>
              <a:pathLst>
                <a:path h="508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380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991" y="3375250"/>
            <a:ext cx="4057412" cy="44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Real-time news analysis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92991" y="4435716"/>
            <a:ext cx="283731" cy="283740"/>
          </a:xfrm>
          <a:custGeom>
            <a:avLst/>
            <a:gdLst/>
            <a:ahLst/>
            <a:cxnLst/>
            <a:rect r="r" b="b" t="t" l="l"/>
            <a:pathLst>
              <a:path h="283740" w="283731">
                <a:moveTo>
                  <a:pt x="0" y="0"/>
                </a:moveTo>
                <a:lnTo>
                  <a:pt x="283730" y="0"/>
                </a:lnTo>
                <a:lnTo>
                  <a:pt x="283730" y="283741"/>
                </a:lnTo>
                <a:lnTo>
                  <a:pt x="0" y="2837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333" t="0" r="-3336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92991" y="4759376"/>
            <a:ext cx="9452677" cy="38129"/>
            <a:chOff x="0" y="0"/>
            <a:chExt cx="12603569" cy="508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03607" cy="50800"/>
            </a:xfrm>
            <a:custGeom>
              <a:avLst/>
              <a:gdLst/>
              <a:ahLst/>
              <a:cxnLst/>
              <a:rect r="r" b="b" t="t" l="l"/>
              <a:pathLst>
                <a:path h="508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380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5166131"/>
            <a:ext cx="3722846" cy="44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Portfolio management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92991" y="5980862"/>
            <a:ext cx="283731" cy="283740"/>
          </a:xfrm>
          <a:custGeom>
            <a:avLst/>
            <a:gdLst/>
            <a:ahLst/>
            <a:cxnLst/>
            <a:rect r="r" b="b" t="t" l="l"/>
            <a:pathLst>
              <a:path h="283740" w="283731">
                <a:moveTo>
                  <a:pt x="0" y="0"/>
                </a:moveTo>
                <a:lnTo>
                  <a:pt x="283730" y="0"/>
                </a:lnTo>
                <a:lnTo>
                  <a:pt x="283730" y="283740"/>
                </a:lnTo>
                <a:lnTo>
                  <a:pt x="0" y="2837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" t="0" r="-2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92991" y="6332820"/>
            <a:ext cx="9452677" cy="38129"/>
            <a:chOff x="0" y="0"/>
            <a:chExt cx="12603569" cy="508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03607" cy="50800"/>
            </a:xfrm>
            <a:custGeom>
              <a:avLst/>
              <a:gdLst/>
              <a:ahLst/>
              <a:cxnLst/>
              <a:rect r="r" b="b" t="t" l="l"/>
              <a:pathLst>
                <a:path h="508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380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92991" y="6579051"/>
            <a:ext cx="3468767" cy="44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Advanced AI models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92991" y="7526017"/>
            <a:ext cx="283731" cy="283740"/>
          </a:xfrm>
          <a:custGeom>
            <a:avLst/>
            <a:gdLst/>
            <a:ahLst/>
            <a:cxnLst/>
            <a:rect r="r" b="b" t="t" l="l"/>
            <a:pathLst>
              <a:path h="283740" w="283731">
                <a:moveTo>
                  <a:pt x="0" y="0"/>
                </a:moveTo>
                <a:lnTo>
                  <a:pt x="283730" y="0"/>
                </a:lnTo>
                <a:lnTo>
                  <a:pt x="283730" y="283740"/>
                </a:lnTo>
                <a:lnTo>
                  <a:pt x="0" y="2837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28332" r="0" b="-28329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92991" y="7906417"/>
            <a:ext cx="9452677" cy="38129"/>
            <a:chOff x="0" y="0"/>
            <a:chExt cx="12603569" cy="508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03607" cy="50800"/>
            </a:xfrm>
            <a:custGeom>
              <a:avLst/>
              <a:gdLst/>
              <a:ahLst/>
              <a:cxnLst/>
              <a:rect r="r" b="b" t="t" l="l"/>
              <a:pathLst>
                <a:path h="508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380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92991" y="8180946"/>
            <a:ext cx="3076099" cy="44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E0D6DE"/>
                </a:solidFill>
                <a:latin typeface="Arimo Bold"/>
                <a:ea typeface="Arimo Bold"/>
                <a:cs typeface="Arimo Bold"/>
                <a:sym typeface="Arimo Bold"/>
              </a:rPr>
              <a:t>Mobile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3583057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Sources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5093760"/>
            <a:ext cx="16315868" cy="156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 u="sng">
                <a:solidFill>
                  <a:srgbClr val="97B8FF"/>
                </a:solidFill>
                <a:latin typeface="Noto Sans Bold"/>
                <a:ea typeface="Noto Sans Bold"/>
                <a:cs typeface="Noto Sans Bold"/>
                <a:sym typeface="Noto Sans Bold"/>
                <a:hlinkClick r:id="rId6" tooltip="https://cdn.gamma.app/rom7fnougcrbd3o/87a87a5c60564bad8936c84648924f84/original/IMG-20260829-WA0029.jpg"/>
              </a:rPr>
              <a:t>IMG-20260829-WA0029.jpg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 u="sng">
                <a:solidFill>
                  <a:srgbClr val="97B8FF"/>
                </a:solidFill>
                <a:latin typeface="Noto Sans Bold"/>
                <a:ea typeface="Noto Sans Bold"/>
                <a:cs typeface="Noto Sans Bold"/>
                <a:sym typeface="Noto Sans Bold"/>
                <a:hlinkClick r:id="rId7" tooltip="https://cdn.gamma.app/rom7fnougcrbd3o/31d9585557b14378a5ae6e412086f32a/original/IMG-20260829-WA0031.jpg"/>
              </a:rPr>
              <a:t>IMG-20260829-WA0031.jpg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 u="sng">
                <a:solidFill>
                  <a:srgbClr val="97B8FF"/>
                </a:solidFill>
                <a:latin typeface="Noto Sans Bold"/>
                <a:ea typeface="Noto Sans Bold"/>
                <a:cs typeface="Noto Sans Bold"/>
                <a:sym typeface="Noto Sans Bold"/>
                <a:hlinkClick r:id="rId8" tooltip="https://cdn.gamma.app/rom7fnougcrbd3o/0fe265209c994144a79238bed48741a5/original/IMG-20260829-WA0055.jpg"/>
              </a:rPr>
              <a:t>IMG-20260829-WA0055.jpg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DAHTqCisXa0</dc:identifier>
  <dcterms:modified xsi:type="dcterms:W3CDTF">2011-08-01T06:04:30Z</dcterms:modified>
  <cp:revision>1</cp:revision>
  <dc:title>ASTOCK ppt.pptx</dc:title>
</cp:coreProperties>
</file>